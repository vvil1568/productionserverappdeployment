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71" r:id="rId5"/>
    <p:sldId id="337" r:id="rId6"/>
    <p:sldId id="397" r:id="rId7"/>
    <p:sldId id="387" r:id="rId8"/>
    <p:sldId id="386" r:id="rId9"/>
    <p:sldId id="388" r:id="rId10"/>
    <p:sldId id="389" r:id="rId11"/>
    <p:sldId id="390" r:id="rId12"/>
    <p:sldId id="391" r:id="rId13"/>
    <p:sldId id="392" r:id="rId14"/>
    <p:sldId id="393" r:id="rId15"/>
    <p:sldId id="394" r:id="rId16"/>
    <p:sldId id="396" r:id="rId17"/>
    <p:sldId id="395" r:id="rId18"/>
    <p:sldId id="398" r:id="rId19"/>
    <p:sldId id="399" r:id="rId20"/>
    <p:sldId id="357" r:id="rId21"/>
    <p:sldId id="292" r:id="rId22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65F33ED-93E9-4A26-A332-0729DF26802B}">
          <p14:sldIdLst>
            <p14:sldId id="271"/>
          </p14:sldIdLst>
        </p14:section>
        <p14:section name="Раздел без заголовка" id="{C2983B72-E04A-42BB-87EF-4167FEDB2BCF}">
          <p14:sldIdLst>
            <p14:sldId id="337"/>
            <p14:sldId id="397"/>
            <p14:sldId id="387"/>
            <p14:sldId id="386"/>
            <p14:sldId id="388"/>
            <p14:sldId id="389"/>
            <p14:sldId id="390"/>
            <p14:sldId id="391"/>
            <p14:sldId id="392"/>
            <p14:sldId id="393"/>
            <p14:sldId id="394"/>
            <p14:sldId id="396"/>
            <p14:sldId id="395"/>
            <p14:sldId id="398"/>
            <p14:sldId id="399"/>
            <p14:sldId id="357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6"/>
    <a:srgbClr val="0F2C68"/>
    <a:srgbClr val="029C63"/>
    <a:srgbClr val="96628C"/>
    <a:srgbClr val="11A0D7"/>
    <a:srgbClr val="E61F3D"/>
    <a:srgbClr val="CD5A5A"/>
    <a:srgbClr val="FFD746"/>
    <a:srgbClr val="0E2D69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64" autoAdjust="0"/>
    <p:restoredTop sz="94722"/>
  </p:normalViewPr>
  <p:slideViewPr>
    <p:cSldViewPr snapToGrid="0" snapToObjects="1">
      <p:cViewPr varScale="1">
        <p:scale>
          <a:sx n="83" d="100"/>
          <a:sy n="83" d="100"/>
        </p:scale>
        <p:origin x="102" y="1578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x-none" smtClean="0"/>
              <a:pPr/>
              <a:t>23.09.2026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x-none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x-none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x-none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pPr/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x-none" smtClean="0"/>
              <a:pPr/>
              <a:t>23.09.2026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mailto:vvasilevskiy@edu.hse.r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951884"/>
            <a:ext cx="7634059" cy="1978323"/>
          </a:xfrm>
        </p:spPr>
        <p:txBody>
          <a:bodyPr>
            <a:normAutofit/>
          </a:bodyPr>
          <a:lstStyle/>
          <a:p>
            <a:r>
              <a:rPr lang="ru-RU" sz="4400" dirty="0">
                <a:latin typeface="Times New Roman" pitchFamily="18" charset="0"/>
                <a:cs typeface="Times New Roman" pitchFamily="18" charset="0"/>
              </a:rPr>
              <a:t>Основы </a:t>
            </a:r>
            <a:r>
              <a:rPr lang="en-US" sz="4400" dirty="0">
                <a:latin typeface="Times New Roman" pitchFamily="18" charset="0"/>
                <a:cs typeface="Times New Roman" pitchFamily="18" charset="0"/>
              </a:rPr>
              <a:t>Kubernetes</a:t>
            </a:r>
            <a:endParaRPr lang="ru-RU" sz="4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r>
              <a:rPr lang="ru-RU" dirty="0"/>
              <a:t>Факультет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75407"/>
            <a:ext cx="2278063" cy="463186"/>
          </a:xfrm>
        </p:spPr>
        <p:txBody>
          <a:bodyPr anchor="ctr">
            <a:normAutofit/>
          </a:bodyPr>
          <a:lstStyle/>
          <a:p>
            <a:r>
              <a:rPr lang="ru-RU" dirty="0"/>
              <a:t>Промышленное развертывание серверных приложений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anchor="ctr"/>
          <a:lstStyle/>
          <a:p>
            <a:r>
              <a:rPr lang="ru-RU" dirty="0"/>
              <a:t>Москва 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43800" y="4128085"/>
            <a:ext cx="3702050" cy="2398807"/>
          </a:xfrm>
        </p:spPr>
        <p:txBody>
          <a:bodyPr>
            <a:noAutofit/>
          </a:bodyPr>
          <a:lstStyle/>
          <a:p>
            <a:pPr algn="r"/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Семинарист</a:t>
            </a:r>
            <a:r>
              <a:rPr lang="en-US" sz="14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Василевский Владимир Игоревич, </a:t>
            </a:r>
          </a:p>
          <a:p>
            <a:pPr algn="r"/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стажер-исследователь Лаборатории </a:t>
            </a:r>
          </a:p>
          <a:p>
            <a:pPr algn="r"/>
            <a:r>
              <a:rPr lang="ru-RU" sz="1400" dirty="0">
                <a:latin typeface="Times New Roman" pitchFamily="18" charset="0"/>
                <a:cs typeface="Times New Roman" pitchFamily="18" charset="0"/>
              </a:rPr>
              <a:t>Облачных и Мобильных Технологий</a:t>
            </a:r>
          </a:p>
          <a:p>
            <a:pPr algn="r"/>
            <a:endParaRPr lang="ru-RU" sz="1400" dirty="0">
              <a:latin typeface="HSE Sans" panose="02000000000000000000" pitchFamily="5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Для чего нам </a:t>
            </a:r>
            <a:r>
              <a:rPr lang="en-US" sz="2200" dirty="0"/>
              <a:t>Kubernetes</a:t>
            </a:r>
            <a:endParaRPr lang="ru-RU" sz="2200" dirty="0"/>
          </a:p>
        </p:txBody>
      </p:sp>
      <p:sp>
        <p:nvSpPr>
          <p:cNvPr id="27" name="Текст 3">
            <a:extLst>
              <a:ext uri="{FF2B5EF4-FFF2-40B4-BE49-F238E27FC236}">
                <a16:creationId xmlns:a16="http://schemas.microsoft.com/office/drawing/2014/main" id="{DADA9EF9-526B-409C-912D-41CAA39E5A67}"/>
              </a:ext>
            </a:extLst>
          </p:cNvPr>
          <p:cNvSpPr txBox="1">
            <a:spLocks/>
          </p:cNvSpPr>
          <p:nvPr/>
        </p:nvSpPr>
        <p:spPr>
          <a:xfrm>
            <a:off x="6004537" y="5248456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accent3"/>
                </a:solidFill>
                <a:latin typeface="Times New Roman" pitchFamily="18" charset="0"/>
                <a:cs typeface="Times New Roman" pitchFamily="18" charset="0"/>
              </a:rPr>
              <a:t>https://cloud.google.com/blog/products/containers-kubernetes/bringing-pokemon-go-to-life-on-google-cloud</a:t>
            </a: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Текст 3">
            <a:extLst>
              <a:ext uri="{FF2B5EF4-FFF2-40B4-BE49-F238E27FC236}">
                <a16:creationId xmlns:a16="http://schemas.microsoft.com/office/drawing/2014/main" id="{4D5E6D4D-BE9A-4262-96AF-253F4DFB2718}"/>
              </a:ext>
            </a:extLst>
          </p:cNvPr>
          <p:cNvSpPr txBox="1">
            <a:spLocks/>
          </p:cNvSpPr>
          <p:nvPr/>
        </p:nvSpPr>
        <p:spPr>
          <a:xfrm>
            <a:off x="624188" y="4463643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" name="Текст 3">
            <a:extLst>
              <a:ext uri="{FF2B5EF4-FFF2-40B4-BE49-F238E27FC236}">
                <a16:creationId xmlns:a16="http://schemas.microsoft.com/office/drawing/2014/main" id="{057978DC-44F4-435D-8C9F-F597C7BB754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36344" y="2570285"/>
            <a:ext cx="10936386" cy="3756210"/>
          </a:xfrm>
        </p:spPr>
        <p:txBody>
          <a:bodyPr numCol="1"/>
          <a:lstStyle/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Промышленное развертывание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Мощности одной машины не хватает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Реплики на разных машинах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Kubernetes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от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Google</a:t>
            </a:r>
          </a:p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Спасение </a:t>
            </a:r>
            <a:r>
              <a:rPr lang="en-US" sz="1800" dirty="0" err="1">
                <a:latin typeface="Times New Roman" pitchFamily="18" charset="0"/>
                <a:cs typeface="Times New Roman" pitchFamily="18" charset="0"/>
              </a:rPr>
              <a:t>Pokemon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GO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9" name="Picture 5" descr="Pokémon GO's K8s Story :)">
            <a:extLst>
              <a:ext uri="{FF2B5EF4-FFF2-40B4-BE49-F238E27FC236}">
                <a16:creationId xmlns:a16="http://schemas.microsoft.com/office/drawing/2014/main" id="{E1AB11D6-DB68-4509-ADB3-081855430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3040" y="2562083"/>
            <a:ext cx="6134586" cy="2264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323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Ставим инструмент управления</a:t>
            </a:r>
          </a:p>
        </p:txBody>
      </p:sp>
      <p:pic>
        <p:nvPicPr>
          <p:cNvPr id="2" name="Picture 2" descr="Picture background">
            <a:extLst>
              <a:ext uri="{FF2B5EF4-FFF2-40B4-BE49-F238E27FC236}">
                <a16:creationId xmlns:a16="http://schemas.microsoft.com/office/drawing/2014/main" id="{E95BE722-533B-4C3A-8C5E-631DBCBAA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7767" y="2724520"/>
            <a:ext cx="3613150" cy="2020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624188" y="2264183"/>
            <a:ext cx="6455543" cy="386255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MacOS: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brew install kubectl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Windows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winget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install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Kubernetes.kubectl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Linux: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https://kubernetes.io/ru/docs/tasks/tools/install-kubectl/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Текст 3">
            <a:extLst>
              <a:ext uri="{FF2B5EF4-FFF2-40B4-BE49-F238E27FC236}">
                <a16:creationId xmlns:a16="http://schemas.microsoft.com/office/drawing/2014/main" id="{DADA9EF9-526B-409C-912D-41CAA39E5A67}"/>
              </a:ext>
            </a:extLst>
          </p:cNvPr>
          <p:cNvSpPr txBox="1">
            <a:spLocks/>
          </p:cNvSpPr>
          <p:nvPr/>
        </p:nvSpPr>
        <p:spPr>
          <a:xfrm>
            <a:off x="7037767" y="5907296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accent3"/>
                </a:solidFill>
                <a:latin typeface="Times New Roman" pitchFamily="18" charset="0"/>
                <a:cs typeface="Times New Roman" pitchFamily="18" charset="0"/>
              </a:rPr>
              <a:t>https://kubernetes.io/ru/docs/tasks/tools/install-kubectl/</a:t>
            </a: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Текст 3">
            <a:extLst>
              <a:ext uri="{FF2B5EF4-FFF2-40B4-BE49-F238E27FC236}">
                <a16:creationId xmlns:a16="http://schemas.microsoft.com/office/drawing/2014/main" id="{4D5E6D4D-BE9A-4262-96AF-253F4DFB2718}"/>
              </a:ext>
            </a:extLst>
          </p:cNvPr>
          <p:cNvSpPr txBox="1">
            <a:spLocks/>
          </p:cNvSpPr>
          <p:nvPr/>
        </p:nvSpPr>
        <p:spPr>
          <a:xfrm>
            <a:off x="624188" y="4463643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539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Поднимаем карманный кластер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624188" y="2011138"/>
            <a:ext cx="6455543" cy="386255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Kind – Kubernetes IN Docker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Linux: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[ $(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uname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-m) =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x86_64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] &amp;&amp; curl -Lo ./kind https://kind.sigs.k8s.io/dl/v0.33.0/kind-linux-amd6</a:t>
            </a:r>
            <a:r>
              <a:rPr lang="ru-RU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4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MacOS: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brew install kind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Windows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winget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install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Kubernetes.kind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Текст 3">
            <a:extLst>
              <a:ext uri="{FF2B5EF4-FFF2-40B4-BE49-F238E27FC236}">
                <a16:creationId xmlns:a16="http://schemas.microsoft.com/office/drawing/2014/main" id="{DADA9EF9-526B-409C-912D-41CAA39E5A67}"/>
              </a:ext>
            </a:extLst>
          </p:cNvPr>
          <p:cNvSpPr txBox="1">
            <a:spLocks/>
          </p:cNvSpPr>
          <p:nvPr/>
        </p:nvSpPr>
        <p:spPr>
          <a:xfrm>
            <a:off x="7037767" y="5907296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accent3"/>
                </a:solidFill>
                <a:latin typeface="Times New Roman" pitchFamily="18" charset="0"/>
                <a:cs typeface="Times New Roman" pitchFamily="18" charset="0"/>
              </a:rPr>
              <a:t>https://kind.sigs.k8s.io/docs/user/quick-start/#installation</a:t>
            </a: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E4DB262-886B-42A5-9922-7C8C1437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730" y="2694676"/>
            <a:ext cx="3550169" cy="220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42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Поднимаем карманный кластер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3584211"/>
            <a:ext cx="6455543" cy="386255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kind create cluster --name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 --config kind-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config.yaml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docker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ps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cluster-info --context kind-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create namespace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config current-context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config set-context --current --namespace=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Текст 3">
            <a:extLst>
              <a:ext uri="{FF2B5EF4-FFF2-40B4-BE49-F238E27FC236}">
                <a16:creationId xmlns:a16="http://schemas.microsoft.com/office/drawing/2014/main" id="{DADA9EF9-526B-409C-912D-41CAA39E5A67}"/>
              </a:ext>
            </a:extLst>
          </p:cNvPr>
          <p:cNvSpPr txBox="1">
            <a:spLocks/>
          </p:cNvSpPr>
          <p:nvPr/>
        </p:nvSpPr>
        <p:spPr>
          <a:xfrm>
            <a:off x="7037767" y="5907296"/>
            <a:ext cx="5575049" cy="562084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accent3"/>
                </a:solidFill>
                <a:latin typeface="Times New Roman" pitchFamily="18" charset="0"/>
                <a:cs typeface="Times New Roman" pitchFamily="18" charset="0"/>
              </a:rPr>
              <a:t>https://kind.sigs.k8s.io/docs/user/quick-start/#creating-a-cluster</a:t>
            </a:r>
            <a:endParaRPr lang="ru-RU" sz="1200" dirty="0">
              <a:solidFill>
                <a:schemeClr val="accent3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D692801-38CA-4820-9A34-260FFBED2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97" y="1890909"/>
            <a:ext cx="2562486" cy="140244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23326CE-FFFA-48F4-A595-20BCB7EA3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189" y="2874562"/>
            <a:ext cx="4964663" cy="139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190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Первый </a:t>
            </a:r>
            <a:r>
              <a:rPr lang="en-US" sz="2200" dirty="0"/>
              <a:t>Deployment</a:t>
            </a:r>
            <a:endParaRPr lang="ru-RU" sz="2200" dirty="0"/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2049299"/>
            <a:ext cx="6455543" cy="386255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Встроенная документация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api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-resources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explain deployment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explain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deployment.spec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 конфигурацию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deployment.yaml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Проверяем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 -o wide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6297A2-AE08-4661-926D-B46525EFA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098" y="1321349"/>
            <a:ext cx="3633041" cy="506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Первый </a:t>
            </a:r>
            <a:r>
              <a:rPr lang="en-US" sz="2200" dirty="0"/>
              <a:t>Deployment</a:t>
            </a:r>
            <a:endParaRPr lang="ru-RU" sz="2200" dirty="0"/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2049299"/>
            <a:ext cx="6455543" cy="386255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Проверим </a:t>
            </a:r>
            <a:r>
              <a:rPr lang="en-US" sz="1800" dirty="0" err="1">
                <a:latin typeface="Times New Roman" pitchFamily="18" charset="0"/>
                <a:cs typeface="Times New Roman" pitchFamily="18" charset="0"/>
              </a:rPr>
              <a:t>UID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 web-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778755d977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95j2f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-o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jsonpath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='{.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metadata.uid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}’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Удалим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delete pod web-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778755d977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95j2f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Посмотрим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 -o wide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Автоматическая поддержка состояния!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scale deployment web --replicas=0 -n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6297A2-AE08-4661-926D-B46525EFA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098" y="1321349"/>
            <a:ext cx="3633041" cy="506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051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Первый </a:t>
            </a:r>
            <a:r>
              <a:rPr lang="en-US" sz="2200" dirty="0"/>
              <a:t>Service</a:t>
            </a:r>
            <a:endParaRPr lang="ru-RU" sz="2200" dirty="0"/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1946429"/>
            <a:ext cx="6538452" cy="461439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 конфигурацию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service.yaml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Проверяем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svc web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Посмотрим привязки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endpointslices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-l kubernetes.io/service-name=web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Что будет, если перейти по адресу?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Только так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run test-client --image=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curlimages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/curl --rm -it --restart=Never -- curl -s http://web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Открываем туннель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port-forward svc/web 8080:80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87B4BBD-4794-4AE7-A7B0-58C03A5D3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324" y="2049299"/>
            <a:ext cx="4420176" cy="372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02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Ловим ошибку в сервисе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1946429"/>
            <a:ext cx="6538452" cy="461439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delete svc web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service.yaml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svc web-serv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Проверим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run test-client --image=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curlimages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/curl --rm -it --restart=Never -- curl -s http://web-serv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Может поды упали?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 -o wide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Поды живы, ищем дальше…</a:t>
            </a: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72839DF-1C6A-40D6-907C-8AD3D8073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856" y="1455359"/>
            <a:ext cx="3778740" cy="399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84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Ловим ошибку в сервисе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A660D6C9-AC61-42D4-A1A4-22F08E8A98E0}"/>
              </a:ext>
            </a:extLst>
          </p:cNvPr>
          <p:cNvSpPr txBox="1">
            <a:spLocks/>
          </p:cNvSpPr>
          <p:nvPr/>
        </p:nvSpPr>
        <p:spPr>
          <a:xfrm>
            <a:off x="548148" y="1946429"/>
            <a:ext cx="6538452" cy="4614391"/>
          </a:xfrm>
          <a:prstGeom prst="rect">
            <a:avLst/>
          </a:prstGeom>
        </p:spPr>
        <p:txBody>
          <a:bodyPr vert="horz" lIns="0" tIns="0" rIns="0" bIns="45720" numCol="1" spcCol="25200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Посмотрим привязки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endpointslices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-l kubernetes.io/service-name=web</a:t>
            </a:r>
            <a:r>
              <a:rPr lang="ru-RU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serv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 err="1">
                <a:latin typeface="Times New Roman" pitchFamily="18" charset="0"/>
                <a:cs typeface="Times New Roman" pitchFamily="18" charset="0"/>
              </a:rPr>
              <a:t>Эндпойнты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не привязались! Селектор не тот?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Проверим метки на подах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 --show-labels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Верно! Селектор не нашел подов с меткой </a:t>
            </a: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web-serv!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Исправляем и </a:t>
            </a:r>
            <a:r>
              <a:rPr lang="ru-RU" sz="1800" dirty="0" err="1">
                <a:latin typeface="Times New Roman" pitchFamily="18" charset="0"/>
                <a:cs typeface="Times New Roman" pitchFamily="18" charset="0"/>
              </a:rPr>
              <a:t>переприменяем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service.yaml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run test-client --image=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curlimages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/curl --rm -it --restart=Never -- curl -s http://web-serv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Работает!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376E95-54B2-4EB0-9212-82CB98447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361" y="1727177"/>
            <a:ext cx="3524742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79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Готовимся к обновлениям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43E5AD-C51D-4BA4-9AEC-6FDEFD01C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1266" y="748866"/>
            <a:ext cx="2955734" cy="5980436"/>
          </a:xfrm>
          <a:prstGeom prst="rect">
            <a:avLst/>
          </a:prstGeom>
        </p:spPr>
      </p:pic>
      <p:sp>
        <p:nvSpPr>
          <p:cNvPr id="10" name="Текст 3">
            <a:extLst>
              <a:ext uri="{FF2B5EF4-FFF2-40B4-BE49-F238E27FC236}">
                <a16:creationId xmlns:a16="http://schemas.microsoft.com/office/drawing/2014/main" id="{091C9D81-6DC9-4793-A9B6-366EE01D1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7084" y="2553070"/>
            <a:ext cx="10936386" cy="3756210"/>
          </a:xfrm>
        </p:spPr>
        <p:txBody>
          <a:bodyPr numCol="1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Инкрементальное обновление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Правила обновления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Проверка здоровья контейнера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Напоминает </a:t>
            </a:r>
            <a:r>
              <a:rPr lang="en-US" sz="1800" dirty="0" err="1">
                <a:latin typeface="Times New Roman" pitchFamily="18" charset="0"/>
                <a:cs typeface="Times New Roman" pitchFamily="18" charset="0"/>
              </a:rPr>
              <a:t>healthcheck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docker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 конфигурацию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deployment.yaml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Проверим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replicaset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-l app=web –w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1970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405055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Готовимся к обновлениям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43E5AD-C51D-4BA4-9AEC-6FDEFD01C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1266" y="748866"/>
            <a:ext cx="2955734" cy="5980436"/>
          </a:xfrm>
          <a:prstGeom prst="rect">
            <a:avLst/>
          </a:prstGeom>
        </p:spPr>
      </p:pic>
      <p:sp>
        <p:nvSpPr>
          <p:cNvPr id="10" name="Текст 3">
            <a:extLst>
              <a:ext uri="{FF2B5EF4-FFF2-40B4-BE49-F238E27FC236}">
                <a16:creationId xmlns:a16="http://schemas.microsoft.com/office/drawing/2014/main" id="{091C9D81-6DC9-4793-A9B6-366EE01D1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7084" y="2049299"/>
            <a:ext cx="10936386" cy="3756210"/>
          </a:xfrm>
        </p:spPr>
        <p:txBody>
          <a:bodyPr numCol="1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Попробуем сломать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set image deployment/web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nginx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nginx:err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</a:t>
            </a:r>
            <a:r>
              <a:rPr lang="ru-RU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                                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Ошибка!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Откатываем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rollout status deployment/web --timeout=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10s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rollout undo deployment/web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</a:t>
            </a:r>
            <a:r>
              <a:rPr lang="ru-RU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                                 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6041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022" y="1375851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Пишем конфигурацию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91C9D81-6DC9-4793-A9B6-366EE01D1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7084" y="2049299"/>
            <a:ext cx="10936386" cy="3756210"/>
          </a:xfrm>
        </p:spPr>
        <p:txBody>
          <a:bodyPr numCol="1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config.yaml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deployment.yaml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Смотрим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port-forward svc/web-serv 8080:80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Меняем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config.yaml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Обновится в течение минуты!</a:t>
            </a: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E9DE021-4B20-4A92-9873-B8D2B8DEC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895" y="1242976"/>
            <a:ext cx="3844763" cy="21860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3F89A97-681D-42C9-A6A3-9500A23CB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815" y="1167231"/>
            <a:ext cx="3954165" cy="547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851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022" y="1375851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Пишем секрет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91C9D81-6DC9-4793-A9B6-366EE01D1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47084" y="2049299"/>
            <a:ext cx="10936386" cy="3756210"/>
          </a:xfrm>
        </p:spPr>
        <p:txBody>
          <a:bodyPr numCol="1"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</a:t>
            </a:r>
            <a:r>
              <a:rPr lang="ru-RU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secret.yaml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deployment.yaml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Смотрим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exec web-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6847f98757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ljj2c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-- env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Вот почему секреты не стоит класть в </a:t>
            </a: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env…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Вспоминаем про </a:t>
            </a:r>
            <a:r>
              <a:rPr lang="en-US" sz="1400" b="1" dirty="0" err="1">
                <a:latin typeface="Times New Roman" pitchFamily="18" charset="0"/>
                <a:cs typeface="Times New Roman" pitchFamily="18" charset="0"/>
              </a:rPr>
              <a:t>tmpfs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файлики и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 Vault…</a:t>
            </a:r>
            <a:endParaRPr lang="ru-RU" sz="14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25B42B6-12BB-4A6B-BDFC-194E99163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121" y="2020095"/>
            <a:ext cx="3020651" cy="22568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51B18A2-5535-414F-9A4D-624CF773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5880" y="991986"/>
            <a:ext cx="3467667" cy="574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3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022" y="1375851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Проверка статуса и ресурсы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64FB78E-06B5-468A-80AC-578DF9BA8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052491"/>
            <a:ext cx="4051683" cy="5503535"/>
          </a:xfrm>
          <a:prstGeom prst="rect">
            <a:avLst/>
          </a:prstGeom>
        </p:spPr>
      </p:pic>
      <p:sp>
        <p:nvSpPr>
          <p:cNvPr id="16" name="Текст 3">
            <a:extLst>
              <a:ext uri="{FF2B5EF4-FFF2-40B4-BE49-F238E27FC236}">
                <a16:creationId xmlns:a16="http://schemas.microsoft.com/office/drawing/2014/main" id="{75C7C0A3-D77C-4037-BAC4-0E0BBF13BF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7022" y="2035705"/>
            <a:ext cx="10936386" cy="3756210"/>
          </a:xfrm>
        </p:spPr>
        <p:txBody>
          <a:bodyPr numCol="1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Ресурсы для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scheduler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Ограничения для контейнера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Liveness –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сумело ли запуститься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Readiness –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временно не готово отвечать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Применяем конфигурацию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apply -f deployment.yaml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Проверим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pods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Сломаем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readiness…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get endpoints web-serv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kubectl describe pod web-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6f5b957dc7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wp46q</a:t>
            </a:r>
            <a:endParaRPr lang="en-US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5946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Промышленное развертывание серверных приложений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sz="1000" dirty="0"/>
              <a:t>Предпосылки появления</a:t>
            </a:r>
            <a:r>
              <a:rPr lang="en-US" sz="1000" dirty="0"/>
              <a:t> docker-compose</a:t>
            </a:r>
            <a:endParaRPr lang="ru-RU" dirty="0"/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EB3254AC-E053-4C4B-B7AA-603BB6FF2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022" y="1375851"/>
            <a:ext cx="11057955" cy="644244"/>
          </a:xfrm>
        </p:spPr>
        <p:txBody>
          <a:bodyPr>
            <a:normAutofit/>
          </a:bodyPr>
          <a:lstStyle/>
          <a:p>
            <a:r>
              <a:rPr lang="ru-RU" sz="2200" dirty="0"/>
              <a:t>Домашнее задание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5C7C0A3-D77C-4037-BAC4-0E0BBF13BF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7022" y="2035705"/>
            <a:ext cx="10936386" cy="3756210"/>
          </a:xfrm>
        </p:spPr>
        <p:txBody>
          <a:bodyPr numCol="1"/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Собираем и загружаем свой образ с приложением в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kind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kind load docker-image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my-app:v1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 --name </a:t>
            </a:r>
            <a:r>
              <a:rPr lang="en-US" sz="1800" dirty="0" err="1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k8s</a:t>
            </a:r>
            <a:r>
              <a:rPr lang="en-US" sz="1800" dirty="0">
                <a:solidFill>
                  <a:schemeClr val="bg1"/>
                </a:solidFill>
                <a:highlight>
                  <a:srgbClr val="000000"/>
                </a:highlight>
                <a:latin typeface="Times New Roman" pitchFamily="18" charset="0"/>
                <a:cs typeface="Times New Roman" pitchFamily="18" charset="0"/>
              </a:rPr>
              <a:t>-lab</a:t>
            </a:r>
            <a:endParaRPr lang="ru-RU" sz="1800" dirty="0">
              <a:solidFill>
                <a:schemeClr val="bg1"/>
              </a:solidFill>
              <a:highlight>
                <a:srgbClr val="000000"/>
              </a:highlight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На 6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Образ,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namespace,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3 реплики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, service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На 8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Все, что на 6, но с </a:t>
            </a:r>
            <a:r>
              <a:rPr lang="en-US" sz="1800" dirty="0" err="1">
                <a:latin typeface="Times New Roman" pitchFamily="18" charset="0"/>
                <a:cs typeface="Times New Roman" pitchFamily="18" charset="0"/>
              </a:rPr>
              <a:t>ConfigMap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, Secret, probes. requests, limits</a:t>
            </a: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На 10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Попытка 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rollout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 неверным тегом, откат</a:t>
            </a:r>
            <a:endParaRPr lang="en-US" sz="1800" dirty="0">
              <a:latin typeface="Times New Roman" pitchFamily="18" charset="0"/>
              <a:cs typeface="Times New Roman" pitchFamily="18" charset="0"/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Формат</a:t>
            </a: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архив с </a:t>
            </a:r>
            <a:r>
              <a:rPr lang="en-US" sz="1800" b="1" dirty="0" err="1">
                <a:latin typeface="Times New Roman" pitchFamily="18" charset="0"/>
                <a:cs typeface="Times New Roman" pitchFamily="18" charset="0"/>
              </a:rPr>
              <a:t>yaml</a:t>
            </a: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 конфигурациями + фотоотчет</a:t>
            </a: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800" b="1" dirty="0">
                <a:latin typeface="Times New Roman" pitchFamily="18" charset="0"/>
                <a:cs typeface="Times New Roman" pitchFamily="18" charset="0"/>
              </a:rPr>
              <a:t>со скринами из консоли в формате </a:t>
            </a: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.pdf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p.s. 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приложение –  веб-сервис на любом языке, использующий конфиги и секреты, имеющий способ проверки жизни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sz="1400" b="1" dirty="0">
                <a:latin typeface="Times New Roman" pitchFamily="18" charset="0"/>
                <a:cs typeface="Times New Roman" pitchFamily="18" charset="0"/>
              </a:rPr>
              <a:t>если на 8+</a:t>
            </a:r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)</a:t>
            </a:r>
            <a:endParaRPr lang="ru-RU" sz="1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2" descr="Picture background">
            <a:extLst>
              <a:ext uri="{FF2B5EF4-FFF2-40B4-BE49-F238E27FC236}">
                <a16:creationId xmlns:a16="http://schemas.microsoft.com/office/drawing/2014/main" id="{00E30114-0D7C-40C1-A26A-5810A7C972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683" y="2126319"/>
            <a:ext cx="4460950" cy="334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6970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Научно-учебная лаборатория облачных и мобильных технологий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456115" cy="641451"/>
          </a:xfrm>
        </p:spPr>
        <p:txBody>
          <a:bodyPr/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Докер-композиции и сеть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453305"/>
            <a:ext cx="10936386" cy="3756210"/>
          </a:xfrm>
        </p:spPr>
        <p:txBody>
          <a:bodyPr numCol="1"/>
          <a:lstStyle/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Продолжение </a:t>
            </a:r>
            <a:r>
              <a:rPr lang="ru-RU" sz="2800" b="1" dirty="0" err="1">
                <a:latin typeface="Times New Roman" pitchFamily="18" charset="0"/>
                <a:cs typeface="Times New Roman" pitchFamily="18" charset="0"/>
              </a:rPr>
              <a:t>Кубернетес</a:t>
            </a:r>
            <a:endParaRPr lang="ru-RU" sz="2800" b="1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  <a:buFont typeface="Arial" pitchFamily="34" charset="0"/>
              <a:buChar char="•"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  …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ru-RU" sz="1800" dirty="0">
              <a:latin typeface="Times New Roman" pitchFamily="18" charset="0"/>
              <a:cs typeface="Times New Roman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Ждем всех на следующем занятии!!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41A0F8D-9767-4A5D-947A-34B08831DEC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План на следующее занятие</a:t>
            </a:r>
            <a:br>
              <a:rPr lang="ru-RU" dirty="0"/>
            </a:br>
            <a:endParaRPr lang="ru-RU" dirty="0"/>
          </a:p>
        </p:txBody>
      </p:sp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60D91512-18C8-45E6-A0C9-0E4FAA126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897" y="1564986"/>
            <a:ext cx="11057955" cy="766908"/>
          </a:xfrm>
        </p:spPr>
        <p:txBody>
          <a:bodyPr>
            <a:normAutofit/>
          </a:bodyPr>
          <a:lstStyle/>
          <a:p>
            <a:r>
              <a:rPr lang="ru-RU" dirty="0"/>
              <a:t>План на следующее занятие</a:t>
            </a:r>
            <a:br>
              <a:rPr lang="ru-RU" dirty="0"/>
            </a:br>
            <a:endParaRPr lang="ru-RU" sz="15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780450-BA1E-4121-902B-0CD402D7D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849" y="1564986"/>
            <a:ext cx="5014803" cy="364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673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5E736E-544E-4D4E-B198-E78EFE261ACA}"/>
              </a:ext>
            </a:extLst>
          </p:cNvPr>
          <p:cNvSpPr txBox="1"/>
          <p:nvPr/>
        </p:nvSpPr>
        <p:spPr>
          <a:xfrm>
            <a:off x="3810918" y="3996252"/>
            <a:ext cx="4972131" cy="7415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35719" tIns="35719" rIns="35719" bIns="35719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lang="ru-RU" sz="3600" dirty="0">
                <a:solidFill>
                  <a:srgbClr val="0F2C68"/>
                </a:solidFill>
                <a:latin typeface="HSE Sans" panose="02000000000000000000" pitchFamily="50" charset="-52"/>
                <a:cs typeface="Arabic Typesetting" panose="020B0604020202020204" pitchFamily="66" charset="-78"/>
              </a:rPr>
              <a:t>Благодарю</a:t>
            </a:r>
            <a:r>
              <a:rPr kumimoji="0" lang="ru-RU" sz="36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  <a:t> за внимание</a:t>
            </a:r>
            <a:r>
              <a:rPr kumimoji="0" lang="en-US" sz="36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  <a:t>!</a:t>
            </a:r>
            <a:endParaRPr kumimoji="0" lang="ru-RU" sz="3600" i="0" u="none" strike="noStrike" kern="1200" cap="none" spc="0" normalizeH="0" noProof="0" dirty="0">
              <a:ln>
                <a:noFill/>
              </a:ln>
              <a:solidFill>
                <a:srgbClr val="0F2C68"/>
              </a:solidFill>
              <a:effectLst/>
              <a:uLnTx/>
              <a:uFillTx/>
              <a:latin typeface="HSE Sans" panose="02000000000000000000" pitchFamily="50" charset="-52"/>
              <a:cs typeface="Arabic Typesetting" panose="020B0604020202020204" pitchFamily="66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F1902-C67E-4041-92B0-58614E046C89}"/>
              </a:ext>
            </a:extLst>
          </p:cNvPr>
          <p:cNvSpPr txBox="1"/>
          <p:nvPr/>
        </p:nvSpPr>
        <p:spPr>
          <a:xfrm>
            <a:off x="600533" y="6417468"/>
            <a:ext cx="10860064" cy="2568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719" tIns="35719" rIns="35719" bIns="35719" numCol="1" spcCol="38100" rtlCol="0" anchor="ctr">
            <a:spAutoFit/>
          </a:bodyPr>
          <a:lstStyle/>
          <a:p>
            <a:pPr defTabSz="410766" hangingPunct="0"/>
            <a:r>
              <a:rPr lang="ru-RU" sz="12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Helvetica Light"/>
              </a:rPr>
              <a:t>Гудзикевич М. С., БПИ-198, курсовая работа, Мобильная аркада с сенсорным управлением – </a:t>
            </a:r>
            <a:r>
              <a:rPr lang="en-US" sz="12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Helvetica Light"/>
              </a:rPr>
              <a:t>msgudzikevich@edu.hse.ru</a:t>
            </a:r>
            <a:r>
              <a:rPr lang="ru-RU" sz="1200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Helvetica Light"/>
              </a:rPr>
              <a:t>					        23</a:t>
            </a:r>
          </a:p>
        </p:txBody>
      </p:sp>
      <p:pic>
        <p:nvPicPr>
          <p:cNvPr id="103" name="Изображение" descr="Изображение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colorTemperature colorTemp="5701"/>
                    </a14:imgEffect>
                    <a14:imgEffect>
                      <a14:saturation sat="3380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99166" y="2270436"/>
            <a:ext cx="1793666" cy="1734292"/>
          </a:xfrm>
          <a:prstGeom prst="rect">
            <a:avLst/>
          </a:prstGeom>
          <a:noFill/>
          <a:ln w="12700">
            <a:miter lim="400000"/>
          </a:ln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E8D85F-E9B7-41FC-AFF3-6C52C594B625}"/>
              </a:ext>
            </a:extLst>
          </p:cNvPr>
          <p:cNvSpPr txBox="1"/>
          <p:nvPr/>
        </p:nvSpPr>
        <p:spPr>
          <a:xfrm>
            <a:off x="4761851" y="4622616"/>
            <a:ext cx="2668296" cy="8338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35719" tIns="35719" rIns="35719" bIns="35719" numCol="1" spcCol="381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  <a:t>Василевский Владимир Игоревич</a:t>
            </a:r>
            <a:br>
              <a:rPr kumimoji="0" lang="ru-RU" sz="14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</a:br>
            <a:r>
              <a:rPr kumimoji="0" lang="en-US" sz="14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vvasilevskiy@hse.ru</a:t>
            </a:r>
            <a:br>
              <a:rPr kumimoji="0" lang="en-US" sz="14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</a:br>
            <a:r>
              <a:rPr kumimoji="0" lang="ru-RU" sz="1400" i="0" u="none" strike="noStrike" kern="1200" cap="none" spc="0" normalizeH="0" noProof="0" dirty="0">
                <a:ln>
                  <a:noFill/>
                </a:ln>
                <a:solidFill>
                  <a:srgbClr val="0F2C68"/>
                </a:solidFill>
                <a:effectLst/>
                <a:uLnTx/>
                <a:uFillTx/>
                <a:latin typeface="HSE Sans" panose="02000000000000000000" pitchFamily="50" charset="-52"/>
                <a:cs typeface="Arabic Typesetting" panose="020B0604020202020204" pitchFamily="66" charset="-78"/>
              </a:rPr>
              <a:t>Москва 202</a:t>
            </a:r>
            <a:r>
              <a:rPr lang="ru-RU" sz="1400" dirty="0">
                <a:solidFill>
                  <a:srgbClr val="0F2C68"/>
                </a:solidFill>
                <a:latin typeface="HSE Sans" panose="02000000000000000000" pitchFamily="50" charset="-52"/>
                <a:cs typeface="Arabic Typesetting" panose="020B0604020202020204" pitchFamily="66" charset="-78"/>
              </a:rPr>
              <a:t>6</a:t>
            </a:r>
            <a:endParaRPr kumimoji="0" lang="ru-RU" sz="1400" i="0" u="none" strike="noStrike" kern="1200" cap="none" spc="0" normalizeH="0" noProof="0" dirty="0">
              <a:ln>
                <a:noFill/>
              </a:ln>
              <a:solidFill>
                <a:srgbClr val="0F2C68"/>
              </a:solidFill>
              <a:effectLst/>
              <a:uLnTx/>
              <a:uFillTx/>
              <a:latin typeface="HSE Sans" panose="02000000000000000000" pitchFamily="50" charset="-52"/>
              <a:cs typeface="Arabic Typesetting" panose="020B0604020202020204" pitchFamily="66" charset="-7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b739a2f-a689-468a-89a2-73972a296307">
      <Terms xmlns="http://schemas.microsoft.com/office/infopath/2007/PartnerControls"/>
    </lcf76f155ced4ddcb4097134ff3c332f>
    <TaxCatchAll xmlns="d7a0ef7b-a4f6-4e65-b83c-7dbdba30d4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E8F20F2384D3D04CA8B8E1E250982FD1" ma:contentTypeVersion="16" ma:contentTypeDescription="Создание документа." ma:contentTypeScope="" ma:versionID="28665edab9a3ead5c83fd3ecb67189db">
  <xsd:schema xmlns:xsd="http://www.w3.org/2001/XMLSchema" xmlns:xs="http://www.w3.org/2001/XMLSchema" xmlns:p="http://schemas.microsoft.com/office/2006/metadata/properties" xmlns:ns2="bb739a2f-a689-468a-89a2-73972a296307" xmlns:ns3="d7a0ef7b-a4f6-4e65-b83c-7dbdba30d41e" targetNamespace="http://schemas.microsoft.com/office/2006/metadata/properties" ma:root="true" ma:fieldsID="3034587aebd71cb0ebe2e2dc1c6e9fa2" ns2:_="" ns3:_="">
    <xsd:import namespace="bb739a2f-a689-468a-89a2-73972a296307"/>
    <xsd:import namespace="d7a0ef7b-a4f6-4e65-b83c-7dbdba30d4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739a2f-a689-468a-89a2-73972a2963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0f49e2ad-b3c7-4051-b79b-59f1dbf380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0ef7b-a4f6-4e65-b83c-7dbdba30d41e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0d8e2f9-8114-4573-8cf5-afcf38c4c1f4}" ma:internalName="TaxCatchAll" ma:showField="CatchAllData" ma:web="d7a0ef7b-a4f6-4e65-b83c-7dbdba30d4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3DAF31-D8A6-49A0-9A5D-8B2EA5B1C511}">
  <ds:schemaRefs>
    <ds:schemaRef ds:uri="http://schemas.microsoft.com/office/2006/metadata/properties"/>
    <ds:schemaRef ds:uri="http://schemas.microsoft.com/office/2006/documentManagement/types"/>
    <ds:schemaRef ds:uri="http://www.w3.org/XML/1998/namespace"/>
    <ds:schemaRef ds:uri="9875bd71-cde8-496c-a136-433f55d5e6d0"/>
    <ds:schemaRef ds:uri="http://purl.org/dc/dcmitype/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e96afe77-3acb-4328-97fc-408e1bde3ecd"/>
    <ds:schemaRef ds:uri="bb739a2f-a689-468a-89a2-73972a296307"/>
    <ds:schemaRef ds:uri="d7a0ef7b-a4f6-4e65-b83c-7dbdba30d41e"/>
  </ds:schemaRefs>
</ds:datastoreItem>
</file>

<file path=customXml/itemProps2.xml><?xml version="1.0" encoding="utf-8"?>
<ds:datastoreItem xmlns:ds="http://schemas.openxmlformats.org/officeDocument/2006/customXml" ds:itemID="{7E7EB8B4-4533-49D8-B147-0BB08BEFB72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b739a2f-a689-468a-89a2-73972a296307"/>
    <ds:schemaRef ds:uri="d7a0ef7b-a4f6-4e65-b83c-7dbdba30d4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5827</TotalTime>
  <Words>1061</Words>
  <Application>Microsoft Office PowerPoint</Application>
  <PresentationFormat>Широкоэкранный</PresentationFormat>
  <Paragraphs>213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HSE Sans</vt:lpstr>
      <vt:lpstr>Arial</vt:lpstr>
      <vt:lpstr>Calibri</vt:lpstr>
      <vt:lpstr>Calibri Light</vt:lpstr>
      <vt:lpstr>Times New Roman</vt:lpstr>
      <vt:lpstr>Office Theme</vt:lpstr>
      <vt:lpstr>Основы Kubernetes</vt:lpstr>
      <vt:lpstr>Для чего нам Kubernetes</vt:lpstr>
      <vt:lpstr>Ставим инструмент управления</vt:lpstr>
      <vt:lpstr>Поднимаем карманный кластер</vt:lpstr>
      <vt:lpstr>Поднимаем карманный кластер</vt:lpstr>
      <vt:lpstr>Первый Deployment</vt:lpstr>
      <vt:lpstr>Первый Deployment</vt:lpstr>
      <vt:lpstr>Первый Service</vt:lpstr>
      <vt:lpstr>Ловим ошибку в сервисе</vt:lpstr>
      <vt:lpstr>Ловим ошибку в сервисе</vt:lpstr>
      <vt:lpstr>Готовимся к обновлениям</vt:lpstr>
      <vt:lpstr>Готовимся к обновлениям</vt:lpstr>
      <vt:lpstr>Пишем конфигурацию</vt:lpstr>
      <vt:lpstr>Пишем секрет</vt:lpstr>
      <vt:lpstr>Проверка статуса и ресурсы</vt:lpstr>
      <vt:lpstr>Домашнее задание</vt:lpstr>
      <vt:lpstr>План на следующее занятие 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Василевский Владимир Игоревич</dc:creator>
  <cp:lastModifiedBy>Goodbird Goodbird</cp:lastModifiedBy>
  <cp:revision>1418</cp:revision>
  <cp:lastPrinted>2021-11-11T13:08:42Z</cp:lastPrinted>
  <dcterms:created xsi:type="dcterms:W3CDTF">2021-11-11T08:52:47Z</dcterms:created>
  <dcterms:modified xsi:type="dcterms:W3CDTF">2026-09-23T19:21:56Z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0x010100E8F20F2384D3D04CA8B8E1E250982FD1</vt:lpwstr>
  </property>
</Properties>
</file>