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71" r:id="rId5"/>
    <p:sldId id="337" r:id="rId6"/>
    <p:sldId id="359" r:id="rId7"/>
    <p:sldId id="360" r:id="rId8"/>
    <p:sldId id="361" r:id="rId9"/>
    <p:sldId id="363" r:id="rId10"/>
    <p:sldId id="364" r:id="rId11"/>
    <p:sldId id="365" r:id="rId12"/>
    <p:sldId id="366" r:id="rId13"/>
    <p:sldId id="367" r:id="rId14"/>
    <p:sldId id="368" r:id="rId15"/>
    <p:sldId id="362" r:id="rId16"/>
    <p:sldId id="373" r:id="rId17"/>
    <p:sldId id="370" r:id="rId18"/>
    <p:sldId id="371" r:id="rId19"/>
    <p:sldId id="372" r:id="rId20"/>
    <p:sldId id="374" r:id="rId21"/>
    <p:sldId id="381" r:id="rId22"/>
    <p:sldId id="376" r:id="rId23"/>
    <p:sldId id="377" r:id="rId24"/>
    <p:sldId id="379" r:id="rId25"/>
    <p:sldId id="382" r:id="rId26"/>
    <p:sldId id="354" r:id="rId27"/>
    <p:sldId id="383" r:id="rId28"/>
    <p:sldId id="357" r:id="rId29"/>
    <p:sldId id="292" r:id="rId3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65F33ED-93E9-4A26-A332-0729DF26802B}">
          <p14:sldIdLst>
            <p14:sldId id="271"/>
          </p14:sldIdLst>
        </p14:section>
        <p14:section name="Раздел без заголовка" id="{C2983B72-E04A-42BB-87EF-4167FEDB2BCF}">
          <p14:sldIdLst>
            <p14:sldId id="337"/>
            <p14:sldId id="359"/>
            <p14:sldId id="360"/>
            <p14:sldId id="361"/>
            <p14:sldId id="363"/>
            <p14:sldId id="364"/>
            <p14:sldId id="365"/>
            <p14:sldId id="366"/>
            <p14:sldId id="367"/>
            <p14:sldId id="368"/>
            <p14:sldId id="362"/>
            <p14:sldId id="373"/>
            <p14:sldId id="370"/>
            <p14:sldId id="371"/>
            <p14:sldId id="372"/>
            <p14:sldId id="374"/>
            <p14:sldId id="381"/>
            <p14:sldId id="376"/>
            <p14:sldId id="377"/>
            <p14:sldId id="379"/>
            <p14:sldId id="382"/>
            <p14:sldId id="354"/>
            <p14:sldId id="383"/>
            <p14:sldId id="357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6"/>
    <a:srgbClr val="0F2C68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3"/>
    <p:restoredTop sz="94722"/>
  </p:normalViewPr>
  <p:slideViewPr>
    <p:cSldViewPr snapToGrid="0" snapToObjects="1">
      <p:cViewPr varScale="1">
        <p:scale>
          <a:sx n="150" d="100"/>
          <a:sy n="150" d="100"/>
        </p:scale>
        <p:origin x="1002" y="12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pPr/>
              <a:t>17.09.2026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pPr/>
              <a:t>17.09.2026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vvasilevskiy@edu.hse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951884"/>
            <a:ext cx="7634059" cy="1978323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75407"/>
            <a:ext cx="2278063" cy="463186"/>
          </a:xfrm>
        </p:spPr>
        <p:txBody>
          <a:bodyPr anchor="ctr">
            <a:normAutofit/>
          </a:bodyPr>
          <a:lstStyle/>
          <a:p>
            <a:r>
              <a:rPr lang="ru-RU" dirty="0"/>
              <a:t>Промышленное развертывание серверных приложений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43800" y="4128085"/>
            <a:ext cx="3702050" cy="2398807"/>
          </a:xfrm>
        </p:spPr>
        <p:txBody>
          <a:bodyPr>
            <a:noAutofit/>
          </a:bodyPr>
          <a:lstStyle/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Семинарист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Василевский Владимир Игоревич,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стажер-исследователь Лаборатории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Облачных и Мобильных Технологий</a:t>
            </a:r>
          </a:p>
          <a:p>
            <a:pPr algn="r"/>
            <a:endParaRPr lang="ru-RU" sz="1400" dirty="0">
              <a:latin typeface="HSE Sans" panose="020000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580" y="2505793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Предпосылки появления</a:t>
            </a:r>
            <a:r>
              <a:rPr lang="en-US" sz="2200" dirty="0"/>
              <a:t> docker-compose</a:t>
            </a:r>
            <a:endParaRPr lang="ru-RU" sz="2200" dirty="0"/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502" y="191372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268" y="253744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Текст 3">
            <a:extLst>
              <a:ext uri="{FF2B5EF4-FFF2-40B4-BE49-F238E27FC236}">
                <a16:creationId xmlns:a16="http://schemas.microsoft.com/office/drawing/2014/main" id="{24AF152D-D7AA-4065-A718-097EF9AB6E47}"/>
              </a:ext>
            </a:extLst>
          </p:cNvPr>
          <p:cNvSpPr txBox="1">
            <a:spLocks/>
          </p:cNvSpPr>
          <p:nvPr/>
        </p:nvSpPr>
        <p:spPr>
          <a:xfrm>
            <a:off x="7087977" y="5103618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Серверное приложение (монолит)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501" y="1899292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854" y="184542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620" y="246913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56" y="3835081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522" y="4458796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55" y="2007179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055" y="3962296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012" y="385855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778" y="4482268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151" y="3600540"/>
            <a:ext cx="667491" cy="639259"/>
          </a:xfrm>
          <a:prstGeom prst="rect">
            <a:avLst/>
          </a:prstGeom>
        </p:spPr>
      </p:pic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Приложению нужна обвязка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Сеть и тома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Нужно много команд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Централизованное управление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Удобная обертка над докером</a:t>
            </a:r>
          </a:p>
        </p:txBody>
      </p:sp>
    </p:spTree>
    <p:extLst>
      <p:ext uri="{BB962C8B-B14F-4D97-AF65-F5344CB8AC3E}">
        <p14:creationId xmlns:p14="http://schemas.microsoft.com/office/powerpoint/2010/main" val="254132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0" y="2632526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 err="1"/>
              <a:t>Микросервисное</a:t>
            </a:r>
            <a:r>
              <a:rPr lang="ru-RU" sz="2200" dirty="0"/>
              <a:t> приложение…</a:t>
            </a:r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212" y="20404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78" y="26641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11" y="202602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564" y="1972155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0" y="2595870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66" y="396181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232" y="458552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65" y="2133912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765" y="4089029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722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8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861" y="3727273"/>
            <a:ext cx="667491" cy="639259"/>
          </a:xfrm>
          <a:prstGeom prst="rect">
            <a:avLst/>
          </a:prstGeom>
        </p:spPr>
      </p:pic>
      <p:pic>
        <p:nvPicPr>
          <p:cNvPr id="21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E912836-812F-4709-994C-B1AABFE4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278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Docker - Visual Studio Marketplace">
            <a:extLst>
              <a:ext uri="{FF2B5EF4-FFF2-40B4-BE49-F238E27FC236}">
                <a16:creationId xmlns:a16="http://schemas.microsoft.com/office/drawing/2014/main" id="{F458018C-C5D9-4631-BEFE-CDEE7F6CC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044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BE00A53-F887-43FF-B89E-3519E20E5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417" y="3727273"/>
            <a:ext cx="667491" cy="639259"/>
          </a:xfrm>
          <a:prstGeom prst="rect">
            <a:avLst/>
          </a:prstGeom>
        </p:spPr>
      </p:pic>
      <p:pic>
        <p:nvPicPr>
          <p:cNvPr id="26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9047E7A1-3407-452F-835B-657781D6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489" y="539905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cker - Visual Studio Marketplace">
            <a:extLst>
              <a:ext uri="{FF2B5EF4-FFF2-40B4-BE49-F238E27FC236}">
                <a16:creationId xmlns:a16="http://schemas.microsoft.com/office/drawing/2014/main" id="{F6E93D51-8414-4BCB-AA13-708019B3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55" y="602276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E96183E-C320-4037-B58C-C30C4DBDB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628" y="5141041"/>
            <a:ext cx="667491" cy="639259"/>
          </a:xfrm>
          <a:prstGeom prst="rect">
            <a:avLst/>
          </a:prstGeom>
        </p:spPr>
      </p:pic>
      <p:pic>
        <p:nvPicPr>
          <p:cNvPr id="2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D6C1592-4DA6-490F-B88A-C640B378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30" y="5348167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Docker - Visual Studio Marketplace">
            <a:extLst>
              <a:ext uri="{FF2B5EF4-FFF2-40B4-BE49-F238E27FC236}">
                <a16:creationId xmlns:a16="http://schemas.microsoft.com/office/drawing/2014/main" id="{BA20C20F-7F4D-4E65-B6D3-879FC2B62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596" y="5971882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8957A1E-4CF9-4C15-865D-7D409BD83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969" y="5090154"/>
            <a:ext cx="667491" cy="639259"/>
          </a:xfrm>
          <a:prstGeom prst="rect">
            <a:avLst/>
          </a:prstGeom>
        </p:spPr>
      </p:pic>
      <p:pic>
        <p:nvPicPr>
          <p:cNvPr id="3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A5008E8E-496A-489A-87BD-9D634AB78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383" y="210915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Docker - Visual Studio Marketplace">
            <a:extLst>
              <a:ext uri="{FF2B5EF4-FFF2-40B4-BE49-F238E27FC236}">
                <a16:creationId xmlns:a16="http://schemas.microsoft.com/office/drawing/2014/main" id="{310F6CCF-1CC4-45D8-9632-A9E668088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149" y="273286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PostgreSQL">
            <a:extLst>
              <a:ext uri="{FF2B5EF4-FFF2-40B4-BE49-F238E27FC236}">
                <a16:creationId xmlns:a16="http://schemas.microsoft.com/office/drawing/2014/main" id="{8C1FD480-5D6E-4CC9-AD6C-DB7F0786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82" y="2094718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AE0FCAF-125F-4CF8-9BEE-014DF9CB8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90" y="3420160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2" descr="Docker - Visual Studio Marketplace">
            <a:extLst>
              <a:ext uri="{FF2B5EF4-FFF2-40B4-BE49-F238E27FC236}">
                <a16:creationId xmlns:a16="http://schemas.microsoft.com/office/drawing/2014/main" id="{7038CC71-1B74-4CE9-A4F7-34DEF846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56" y="4043875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PostgreSQL">
            <a:extLst>
              <a:ext uri="{FF2B5EF4-FFF2-40B4-BE49-F238E27FC236}">
                <a16:creationId xmlns:a16="http://schemas.microsoft.com/office/drawing/2014/main" id="{DD05FFF9-04FC-4803-8D90-2BED8F190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89" y="3405726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CD886270-8CA3-4B39-B912-7C50FF13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898" y="495663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Docker - Visual Studio Marketplace">
            <a:extLst>
              <a:ext uri="{FF2B5EF4-FFF2-40B4-BE49-F238E27FC236}">
                <a16:creationId xmlns:a16="http://schemas.microsoft.com/office/drawing/2014/main" id="{7C957740-6F5D-40AF-8095-A89EE7725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64" y="558035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PostgreSQL">
            <a:extLst>
              <a:ext uri="{FF2B5EF4-FFF2-40B4-BE49-F238E27FC236}">
                <a16:creationId xmlns:a16="http://schemas.microsoft.com/office/drawing/2014/main" id="{2AD61994-98AB-4BD5-9E8D-8B8075689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897" y="494220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C4CC1C0-82FE-48D5-8124-6F8E0AFC0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65" y="51877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Docker - Visual Studio Marketplace">
            <a:extLst>
              <a:ext uri="{FF2B5EF4-FFF2-40B4-BE49-F238E27FC236}">
                <a16:creationId xmlns:a16="http://schemas.microsoft.com/office/drawing/2014/main" id="{0DA5429C-3E86-4556-A0D2-51030B42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31" y="58114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Picture background">
            <a:extLst>
              <a:ext uri="{FF2B5EF4-FFF2-40B4-BE49-F238E27FC236}">
                <a16:creationId xmlns:a16="http://schemas.microsoft.com/office/drawing/2014/main" id="{6D9336A8-6354-473E-AB28-B7BBBEF3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564" y="5314974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D22DECD-8008-4AD1-832F-7530D1CA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127" y="199668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ocker - Visual Studio Marketplace">
            <a:extLst>
              <a:ext uri="{FF2B5EF4-FFF2-40B4-BE49-F238E27FC236}">
                <a16:creationId xmlns:a16="http://schemas.microsoft.com/office/drawing/2014/main" id="{AA615D85-AC1D-4BE6-AB6F-7676136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93" y="262039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BB36FE2-4A59-4243-94D0-4E1AA05C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96" y="1996684"/>
            <a:ext cx="731836" cy="38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7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000" dirty="0"/>
              <a:t>Docker vs </a:t>
            </a:r>
            <a:r>
              <a:rPr lang="en-US" sz="1000" dirty="0" err="1"/>
              <a:t>podman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en-US" sz="2200" dirty="0"/>
              <a:t>Docker vs </a:t>
            </a:r>
            <a:r>
              <a:rPr lang="en-US" sz="2200" dirty="0" err="1"/>
              <a:t>podman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demon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единая точка отказа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Root-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режим – избыточные привилегии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Интеграция с ОС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systemd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Концепция подов – связных композиций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Совместимость с конфигами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Совместимость 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compose (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частично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2B9CE2B1-CC60-4993-AB2E-E5137716D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544" y="2497525"/>
            <a:ext cx="44704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Текст 3">
            <a:extLst>
              <a:ext uri="{FF2B5EF4-FFF2-40B4-BE49-F238E27FC236}">
                <a16:creationId xmlns:a16="http://schemas.microsoft.com/office/drawing/2014/main" id="{8D852F11-56E5-4A9A-91F8-DD18200F674F}"/>
              </a:ext>
            </a:extLst>
          </p:cNvPr>
          <p:cNvSpPr txBox="1">
            <a:spLocks/>
          </p:cNvSpPr>
          <p:nvPr/>
        </p:nvSpPr>
        <p:spPr>
          <a:xfrm>
            <a:off x="612414" y="549868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podman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play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04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000" dirty="0" err="1"/>
              <a:t>OrbStack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en-US" sz="2200" dirty="0" err="1"/>
              <a:t>OrbStack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Легковесный вариант для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MacOS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Интегрирован в экосистему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Полная замена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Desktop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 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compose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Позволяет включить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 легковесных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виртуальных машин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8D852F11-56E5-4A9A-91F8-DD18200F674F}"/>
              </a:ext>
            </a:extLst>
          </p:cNvPr>
          <p:cNvSpPr txBox="1">
            <a:spLocks/>
          </p:cNvSpPr>
          <p:nvPr/>
        </p:nvSpPr>
        <p:spPr>
          <a:xfrm>
            <a:off x="612414" y="549868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orb create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debian:bookworm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orb shell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63C864-6259-497E-B87B-E655C19E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299" y="2804073"/>
            <a:ext cx="3143689" cy="933580"/>
          </a:xfrm>
          <a:prstGeom prst="rect">
            <a:avLst/>
          </a:prstGeom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EF5CFF68-523D-4180-BBE2-FDCCCC12F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313" y="3929374"/>
            <a:ext cx="3375660" cy="225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28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0" y="2632526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Вернемся к докер-композициям</a:t>
            </a:r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212" y="20404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78" y="26641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11" y="202602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564" y="1972155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0" y="2595870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66" y="396181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232" y="458552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65" y="2133912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765" y="4089029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722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8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861" y="3727273"/>
            <a:ext cx="667491" cy="639259"/>
          </a:xfrm>
          <a:prstGeom prst="rect">
            <a:avLst/>
          </a:prstGeom>
        </p:spPr>
      </p:pic>
      <p:pic>
        <p:nvPicPr>
          <p:cNvPr id="21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E912836-812F-4709-994C-B1AABFE4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278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Docker - Visual Studio Marketplace">
            <a:extLst>
              <a:ext uri="{FF2B5EF4-FFF2-40B4-BE49-F238E27FC236}">
                <a16:creationId xmlns:a16="http://schemas.microsoft.com/office/drawing/2014/main" id="{F458018C-C5D9-4631-BEFE-CDEE7F6CC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044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BE00A53-F887-43FF-B89E-3519E20E5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417" y="3727273"/>
            <a:ext cx="667491" cy="639259"/>
          </a:xfrm>
          <a:prstGeom prst="rect">
            <a:avLst/>
          </a:prstGeom>
        </p:spPr>
      </p:pic>
      <p:pic>
        <p:nvPicPr>
          <p:cNvPr id="26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9047E7A1-3407-452F-835B-657781D6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489" y="539905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cker - Visual Studio Marketplace">
            <a:extLst>
              <a:ext uri="{FF2B5EF4-FFF2-40B4-BE49-F238E27FC236}">
                <a16:creationId xmlns:a16="http://schemas.microsoft.com/office/drawing/2014/main" id="{F6E93D51-8414-4BCB-AA13-708019B3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55" y="602276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E96183E-C320-4037-B58C-C30C4DBDB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628" y="5141041"/>
            <a:ext cx="667491" cy="639259"/>
          </a:xfrm>
          <a:prstGeom prst="rect">
            <a:avLst/>
          </a:prstGeom>
        </p:spPr>
      </p:pic>
      <p:pic>
        <p:nvPicPr>
          <p:cNvPr id="2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D6C1592-4DA6-490F-B88A-C640B378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30" y="5348167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Docker - Visual Studio Marketplace">
            <a:extLst>
              <a:ext uri="{FF2B5EF4-FFF2-40B4-BE49-F238E27FC236}">
                <a16:creationId xmlns:a16="http://schemas.microsoft.com/office/drawing/2014/main" id="{BA20C20F-7F4D-4E65-B6D3-879FC2B62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596" y="5971882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8957A1E-4CF9-4C15-865D-7D409BD83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969" y="5090154"/>
            <a:ext cx="667491" cy="639259"/>
          </a:xfrm>
          <a:prstGeom prst="rect">
            <a:avLst/>
          </a:prstGeom>
        </p:spPr>
      </p:pic>
      <p:pic>
        <p:nvPicPr>
          <p:cNvPr id="3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A5008E8E-496A-489A-87BD-9D634AB78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383" y="210915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Docker - Visual Studio Marketplace">
            <a:extLst>
              <a:ext uri="{FF2B5EF4-FFF2-40B4-BE49-F238E27FC236}">
                <a16:creationId xmlns:a16="http://schemas.microsoft.com/office/drawing/2014/main" id="{310F6CCF-1CC4-45D8-9632-A9E668088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149" y="273286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PostgreSQL">
            <a:extLst>
              <a:ext uri="{FF2B5EF4-FFF2-40B4-BE49-F238E27FC236}">
                <a16:creationId xmlns:a16="http://schemas.microsoft.com/office/drawing/2014/main" id="{8C1FD480-5D6E-4CC9-AD6C-DB7F0786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82" y="2094718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AE0FCAF-125F-4CF8-9BEE-014DF9CB8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90" y="3420160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2" descr="Docker - Visual Studio Marketplace">
            <a:extLst>
              <a:ext uri="{FF2B5EF4-FFF2-40B4-BE49-F238E27FC236}">
                <a16:creationId xmlns:a16="http://schemas.microsoft.com/office/drawing/2014/main" id="{7038CC71-1B74-4CE9-A4F7-34DEF846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56" y="4043875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PostgreSQL">
            <a:extLst>
              <a:ext uri="{FF2B5EF4-FFF2-40B4-BE49-F238E27FC236}">
                <a16:creationId xmlns:a16="http://schemas.microsoft.com/office/drawing/2014/main" id="{DD05FFF9-04FC-4803-8D90-2BED8F190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89" y="3405726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CD886270-8CA3-4B39-B912-7C50FF13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898" y="495663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Docker - Visual Studio Marketplace">
            <a:extLst>
              <a:ext uri="{FF2B5EF4-FFF2-40B4-BE49-F238E27FC236}">
                <a16:creationId xmlns:a16="http://schemas.microsoft.com/office/drawing/2014/main" id="{7C957740-6F5D-40AF-8095-A89EE7725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64" y="558035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PostgreSQL">
            <a:extLst>
              <a:ext uri="{FF2B5EF4-FFF2-40B4-BE49-F238E27FC236}">
                <a16:creationId xmlns:a16="http://schemas.microsoft.com/office/drawing/2014/main" id="{2AD61994-98AB-4BD5-9E8D-8B8075689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897" y="494220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C4CC1C0-82FE-48D5-8124-6F8E0AFC0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65" y="51877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Docker - Visual Studio Marketplace">
            <a:extLst>
              <a:ext uri="{FF2B5EF4-FFF2-40B4-BE49-F238E27FC236}">
                <a16:creationId xmlns:a16="http://schemas.microsoft.com/office/drawing/2014/main" id="{0DA5429C-3E86-4556-A0D2-51030B42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31" y="58114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Picture background">
            <a:extLst>
              <a:ext uri="{FF2B5EF4-FFF2-40B4-BE49-F238E27FC236}">
                <a16:creationId xmlns:a16="http://schemas.microsoft.com/office/drawing/2014/main" id="{6D9336A8-6354-473E-AB28-B7BBBEF3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564" y="5314974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D22DECD-8008-4AD1-832F-7530D1CA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127" y="199668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ocker - Visual Studio Marketplace">
            <a:extLst>
              <a:ext uri="{FF2B5EF4-FFF2-40B4-BE49-F238E27FC236}">
                <a16:creationId xmlns:a16="http://schemas.microsoft.com/office/drawing/2014/main" id="{AA615D85-AC1D-4BE6-AB6F-7676136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93" y="262039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BB36FE2-4A59-4243-94D0-4E1AA05C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96" y="1996684"/>
            <a:ext cx="731836" cy="38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82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Первая докер-композиция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Монтирование файлов и инициализация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Проверка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здоровья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Общая сеть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Адресация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докерной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сети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E748D2-D935-4EE0-B1D3-AFF8C738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42" y="1446132"/>
            <a:ext cx="4596935" cy="5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8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О разрешении адресов</a:t>
            </a:r>
            <a:r>
              <a:rPr lang="en-US" sz="2200" dirty="0"/>
              <a:t> (DNS)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3709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Кеширование и иерархический поиск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браузере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ОС (файл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hosts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уровне роутера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уровне провайдера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Глобальный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7D1FB7-D04B-48F2-89D3-523ACF41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426" y="2049299"/>
            <a:ext cx="4804108" cy="35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4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О разрешении адресов</a:t>
            </a:r>
            <a:r>
              <a:rPr lang="en-US" sz="2200" dirty="0"/>
              <a:t> (DNS)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3709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Пошаговый разбор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Корневой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DNS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Top Level Domain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Авторитетные серверы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Обратный ход с кешированием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Адрес выяснен!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1E1F8F65-26CD-4993-BC76-BDE8E5B5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452" y="2264183"/>
            <a:ext cx="5421188" cy="295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3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Типы </a:t>
            </a:r>
            <a:r>
              <a:rPr lang="ru-RU" sz="2200" dirty="0" err="1"/>
              <a:t>докерных</a:t>
            </a:r>
            <a:r>
              <a:rPr lang="ru-RU" sz="2200" dirty="0"/>
              <a:t> сетей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Bridge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изолированная сеть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единая сеть с компьютером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без сети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Overlay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кластерная сеть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Macvlan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как устройство в локальную сеть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848F87AB-CAB0-41C6-A871-7C074E5A3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5464F8-ACF4-46AB-A53D-9BE9D827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77" y="1888429"/>
            <a:ext cx="4994430" cy="30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9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Управление окружением и секретами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Переменные окружения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Уровень докера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Уровень докер-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компоуза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.env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файл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Докер-секреты 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/run/secrets/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Хранилище секретов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(Vault)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848F87AB-CAB0-41C6-A871-7C074E5A3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E3660A-4802-4BA9-A07B-3E19E080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874" y="4492310"/>
            <a:ext cx="3639058" cy="15432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7A1E52A-E872-450D-B869-FB20069AE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16" y="2186256"/>
            <a:ext cx="2966124" cy="16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4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Полезные аспекты, о которых многие забывают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7134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Автоматическая перезагрузка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Ограничения на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(!!!)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Ограничение ресурсов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Проверка здоровья контейнера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Монтирование томов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6EB61F-DC94-4C46-AF7C-D0486DFE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213" y="2049299"/>
            <a:ext cx="3837514" cy="3756211"/>
          </a:xfrm>
          <a:prstGeom prst="rect">
            <a:avLst/>
          </a:prstGeom>
        </p:spPr>
      </p:pic>
      <p:sp>
        <p:nvSpPr>
          <p:cNvPr id="52" name="Текст 3">
            <a:extLst>
              <a:ext uri="{FF2B5EF4-FFF2-40B4-BE49-F238E27FC236}">
                <a16:creationId xmlns:a16="http://schemas.microsoft.com/office/drawing/2014/main" id="{4DA8975F-4D01-4610-999A-4252FD2CD233}"/>
              </a:ext>
            </a:extLst>
          </p:cNvPr>
          <p:cNvSpPr txBox="1">
            <a:spLocks/>
          </p:cNvSpPr>
          <p:nvPr/>
        </p:nvSpPr>
        <p:spPr>
          <a:xfrm>
            <a:off x="6356601" y="629591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https://habr.com/ru/companies/otus/articles/1034390/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23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Немного безопасности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7134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Не забывайте менять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умолчанные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пароли!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Не открывайте порты!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По сети ходят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краулеры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и непрерывно атакуют!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Текст 3">
            <a:extLst>
              <a:ext uri="{FF2B5EF4-FFF2-40B4-BE49-F238E27FC236}">
                <a16:creationId xmlns:a16="http://schemas.microsoft.com/office/drawing/2014/main" id="{4DA8975F-4D01-4610-999A-4252FD2CD233}"/>
              </a:ext>
            </a:extLst>
          </p:cNvPr>
          <p:cNvSpPr txBox="1">
            <a:spLocks/>
          </p:cNvSpPr>
          <p:nvPr/>
        </p:nvSpPr>
        <p:spPr>
          <a:xfrm>
            <a:off x="6356601" y="629591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https://habr.com/ru/companies/otus/articles/1034390/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8C6511-D0C7-49A9-AAAA-D57916A3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379" y="2567065"/>
            <a:ext cx="570627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</a:t>
            </a:r>
            <a:r>
              <a:rPr lang="en-US" sz="2200" dirty="0"/>
              <a:t>RSA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0236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Хотим убедиться, что перед нами подлинный сайт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Асимметричное шифрование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Публичный и приватный ключ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Зашифрованное публичным откроется только приватным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Зашифрованное приватным откроется только публичным</a:t>
            </a:r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EE3E789D-DC2B-48EF-A3B0-44D4B3C22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2049299"/>
            <a:ext cx="5480050" cy="308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7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шифрование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изготовила пару из публичного и приватного ключа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передала публичный ключ Бобу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Обмен зашифрованной информацией от Боба к Алисе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зашифровал публичным ключом Алисы текст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доставлялся по неопределенному каналу Алисе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расшифровала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своим приватным ключом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B4F735-A979-41FC-847F-82BCC8AA7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100" y="1469506"/>
            <a:ext cx="1107683" cy="16106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2372BD-AB0B-41AA-A031-091CEDA9C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485" y="3261438"/>
            <a:ext cx="4626424" cy="121969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280878-4EEF-4DB0-A4B5-AB656E842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72" y="4662433"/>
            <a:ext cx="4799647" cy="129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6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</a:t>
            </a:r>
            <a:r>
              <a:rPr lang="en-US" sz="2200" dirty="0"/>
              <a:t> - </a:t>
            </a:r>
            <a:r>
              <a:rPr lang="ru-RU" sz="2200" dirty="0"/>
              <a:t>подпись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изготовила пару из публичного и приватного ключа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передала публичный ключ Бобу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хочет проверить подлинность Алисы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отправил Алисе текст по неопределенному каналу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зашифровала текст своим приватным ключом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отправила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Бобу по неопределенному каналу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получил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расшифровал его публичным ключом Алисы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Если он расшифровался, значит его зашифровали (подписали) приватным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ключом Алисы!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2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- сертификат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сертификат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Доверенные центры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Центр сертификации имеет свою пару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ca.pub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ca.pub +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метаданные =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ca.crt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корневой сертификат центра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 создал свою пару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server.pub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Центр сертификации шифрует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server.pub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+ доменное имя своим приватным ключом =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srv.crt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1A8789-1514-40D7-88F3-4DC8459E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92" y="1836852"/>
            <a:ext cx="2884868" cy="132134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8BDC533-E550-4BB0-B902-404B3DDBC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81" y="2708779"/>
            <a:ext cx="2194659" cy="100521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13D984D-28AE-4022-BCF5-FF15D21B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43" y="3429000"/>
            <a:ext cx="1975525" cy="83000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179171D-7926-4907-A7F4-E34C2FF7B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80" y="4663305"/>
            <a:ext cx="4246265" cy="17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67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- сертификат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– проверка сертификата</a:t>
            </a:r>
            <a:r>
              <a:rPr lang="en-US" sz="2200" dirty="0"/>
              <a:t> </a:t>
            </a:r>
            <a:r>
              <a:rPr lang="ru-RU" sz="2200" dirty="0"/>
              <a:t>веб-сайта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Корневые сертификаты центров сертификации зашит в ОС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шлет серверу строку Х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 шлет браузеру свой сертификат и зашифрованную приватным ключом строку Х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расшифровывает сертификат публичным ключом центра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достает из сертификата публичный ключ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75BED0-E6F9-4DFE-9A42-453FB4E3D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43" y="2686083"/>
            <a:ext cx="1938200" cy="16989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36AC6D-BF71-4EAE-BA3C-88EE3146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393" y="2125745"/>
            <a:ext cx="2648783" cy="111287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201AD7A-E0B0-4C1F-A737-C96BE7CD6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33" y="4409101"/>
            <a:ext cx="5245562" cy="150278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2BF4F2D-B4AF-4A4D-B0FB-975C060E8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319" y="4387425"/>
            <a:ext cx="3522133" cy="151384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EDD849-F1B7-4EF5-A779-CAB3120C3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47" y="1902176"/>
            <a:ext cx="2194659" cy="100521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BA8272A-ACCB-4973-9AD5-13561E7E3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733" y="5245939"/>
            <a:ext cx="1182736" cy="10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72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Первая докер-композиция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Монтирование файлов и инициализация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Проверка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здоровья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Общая сеть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Адресация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докерной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сети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E748D2-D935-4EE0-B1D3-AFF8C738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42" y="1446132"/>
            <a:ext cx="4596935" cy="5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90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Разворачиваем </a:t>
            </a:r>
            <a:r>
              <a:rPr lang="en-US" sz="2200" dirty="0" err="1"/>
              <a:t>LMS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База данных и система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Смонтированы тома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Настроены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Кодраннер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8986D8-9DFC-4BE3-AAFB-879AC98A2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430" y="1221600"/>
            <a:ext cx="3851597" cy="538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46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Прикрываем доменом приложение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6681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Reverse-proxy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NGINX Proxy Manager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Cloudflare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Let’s Encrypt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0DE594C-F6C7-4A91-9520-6BE4F78F2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1DE283E-19A1-4373-836C-00726FB4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438" y="2497525"/>
            <a:ext cx="4893907" cy="226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07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Создаем центр сертификации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585897" y="2049299"/>
            <a:ext cx="11379359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-new -nodes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sha256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-days 3650 -out ca.crt -subj "/CN=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MyCloudCA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Сертификат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-new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-subj "/CN=demolh.hsecontest.ru/O=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CMTLab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addext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subjectAltName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DNS:demolh.hsecontest.ru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-req -in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-CA ca.crt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CAcreateserial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server.crt -days 365 -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sha256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copy_extensions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copy</a:t>
            </a:r>
            <a:endParaRPr lang="ru-RU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mTLS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-new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-subj "/CN=admin-client-cert/O=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CMTLab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-req -days 365 -in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-CA ca.crt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CAcreateserial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client.crt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extfile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&lt;(echo "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extendedKeyUsage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clientAuth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pkcs12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-export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client.p12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inkey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-in client.crt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certfile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ca.crt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0DE594C-F6C7-4A91-9520-6BE4F78F2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207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React-</a:t>
            </a:r>
            <a:r>
              <a:rPr lang="ru-RU" dirty="0"/>
              <a:t>сайтом – домашнее задание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А теперь проделайте это сами!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Выпустите центр сертификации и серверный сертификат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Создайте докер-сеть 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Поднимите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Поднимите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demopage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Подключите сертификат в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Добавьте сертификат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chrome://certificate-manager/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Перезагрузите браузер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chrome://restart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Убедитесь, что сертификат применился и подключение защищено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8B5CC6D-5C8B-4D6B-AB0F-AC90697B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70" y="2163996"/>
            <a:ext cx="3951249" cy="296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668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React-</a:t>
            </a:r>
            <a:r>
              <a:rPr lang="ru-RU" dirty="0"/>
              <a:t>сайтом – домашнее задание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Поднимаем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ru-RU" dirty="0"/>
              <a:t>– домашнее задание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149486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докер-композицию с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системой авторизации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базе образа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quay.io/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keycloak:24.0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6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режиме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8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продовом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режиме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 на 10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Прикрыть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самоподписанным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сертификатом через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938154" y="6028238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https://quay.io/keycloak/keycloak:24.0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BB6F24-C3B1-4623-A843-C6389172E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54" y="2149486"/>
            <a:ext cx="4212490" cy="34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4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Ждем всех на следующем занятии!!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80450-BA1E-4121-902B-0CD402D7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1564986"/>
            <a:ext cx="5014803" cy="36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73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E736E-544E-4D4E-B198-E78EFE261ACA}"/>
              </a:ext>
            </a:extLst>
          </p:cNvPr>
          <p:cNvSpPr txBox="1"/>
          <p:nvPr/>
        </p:nvSpPr>
        <p:spPr>
          <a:xfrm>
            <a:off x="3810918" y="3996252"/>
            <a:ext cx="4972131" cy="741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Благодарю</a:t>
            </a:r>
            <a:r>
              <a:rPr kumimoji="0" lang="ru-RU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 за внимание</a:t>
            </a:r>
            <a:r>
              <a:rPr kumimoji="0" lang="en-US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!</a:t>
            </a:r>
            <a:endParaRPr kumimoji="0" lang="ru-RU" sz="36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1902-C67E-4041-92B0-58614E046C89}"/>
              </a:ext>
            </a:extLst>
          </p:cNvPr>
          <p:cNvSpPr txBox="1"/>
          <p:nvPr/>
        </p:nvSpPr>
        <p:spPr>
          <a:xfrm>
            <a:off x="600533" y="6417468"/>
            <a:ext cx="10860064" cy="256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66" hangingPunct="0"/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Гудзикевич М. С., БПИ-198, курсовая работа, Мобильная аркада с сенсорным управлением – </a:t>
            </a:r>
            <a:r>
              <a:rPr lang="en-US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msgudzikevich@edu.hse.ru</a:t>
            </a:r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				        23</a:t>
            </a:r>
          </a:p>
        </p:txBody>
      </p:sp>
      <p:pic>
        <p:nvPicPr>
          <p:cNvPr id="103" name="Изображение" descr="Изображение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701"/>
                    </a14:imgEffect>
                    <a14:imgEffect>
                      <a14:saturation sat="33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166" y="2270436"/>
            <a:ext cx="1793666" cy="1734292"/>
          </a:xfrm>
          <a:prstGeom prst="rect">
            <a:avLst/>
          </a:prstGeom>
          <a:noFill/>
          <a:ln w="12700"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8D85F-E9B7-41FC-AFF3-6C52C594B625}"/>
              </a:ext>
            </a:extLst>
          </p:cNvPr>
          <p:cNvSpPr txBox="1"/>
          <p:nvPr/>
        </p:nvSpPr>
        <p:spPr>
          <a:xfrm>
            <a:off x="4761851" y="4622616"/>
            <a:ext cx="2668296" cy="83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Василевский Владимир Игоревич</a:t>
            </a:r>
            <a:b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vvasilevskiy@hse.ru</a:t>
            </a:r>
            <a:b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Москва 202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6</a:t>
            </a:r>
            <a:endParaRPr kumimoji="0" lang="ru-RU" sz="14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739a2f-a689-468a-89a2-73972a296307">
      <Terms xmlns="http://schemas.microsoft.com/office/infopath/2007/PartnerControls"/>
    </lcf76f155ced4ddcb4097134ff3c332f>
    <TaxCatchAll xmlns="d7a0ef7b-a4f6-4e65-b83c-7dbdba30d4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F20F2384D3D04CA8B8E1E250982FD1" ma:contentTypeVersion="16" ma:contentTypeDescription="Создание документа." ma:contentTypeScope="" ma:versionID="28665edab9a3ead5c83fd3ecb67189db">
  <xsd:schema xmlns:xsd="http://www.w3.org/2001/XMLSchema" xmlns:xs="http://www.w3.org/2001/XMLSchema" xmlns:p="http://schemas.microsoft.com/office/2006/metadata/properties" xmlns:ns2="bb739a2f-a689-468a-89a2-73972a296307" xmlns:ns3="d7a0ef7b-a4f6-4e65-b83c-7dbdba30d41e" targetNamespace="http://schemas.microsoft.com/office/2006/metadata/properties" ma:root="true" ma:fieldsID="3034587aebd71cb0ebe2e2dc1c6e9fa2" ns2:_="" ns3:_="">
    <xsd:import namespace="bb739a2f-a689-468a-89a2-73972a296307"/>
    <xsd:import namespace="d7a0ef7b-a4f6-4e65-b83c-7dbdba30d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39a2f-a689-468a-89a2-73972a296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0ef7b-a4f6-4e65-b83c-7dbdba30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d8e2f9-8114-4573-8cf5-afcf38c4c1f4}" ma:internalName="TaxCatchAll" ma:showField="CatchAllData" ma:web="d7a0ef7b-a4f6-4e65-b83c-7dbdba30d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875bd71-cde8-496c-a136-433f55d5e6d0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96afe77-3acb-4328-97fc-408e1bde3ecd"/>
    <ds:schemaRef ds:uri="bb739a2f-a689-468a-89a2-73972a296307"/>
    <ds:schemaRef ds:uri="d7a0ef7b-a4f6-4e65-b83c-7dbdba30d41e"/>
  </ds:schemaRefs>
</ds:datastoreItem>
</file>

<file path=customXml/itemProps3.xml><?xml version="1.0" encoding="utf-8"?>
<ds:datastoreItem xmlns:ds="http://schemas.openxmlformats.org/officeDocument/2006/customXml" ds:itemID="{7E7EB8B4-4533-49D8-B147-0BB08BEFB7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39a2f-a689-468a-89a2-73972a296307"/>
    <ds:schemaRef ds:uri="d7a0ef7b-a4f6-4e65-b83c-7dbdba30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4974</TotalTime>
  <Words>1359</Words>
  <Application>Microsoft Office PowerPoint</Application>
  <PresentationFormat>Широкоэкранный</PresentationFormat>
  <Paragraphs>250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HSE Sans</vt:lpstr>
      <vt:lpstr>Arial</vt:lpstr>
      <vt:lpstr>Calibri</vt:lpstr>
      <vt:lpstr>Calibri Light</vt:lpstr>
      <vt:lpstr>Times New Roman</vt:lpstr>
      <vt:lpstr>Office Theme</vt:lpstr>
      <vt:lpstr>Докер-композиции и сеть</vt:lpstr>
      <vt:lpstr>Предпосылки появления docker-compose</vt:lpstr>
      <vt:lpstr>Микросервисное приложение…</vt:lpstr>
      <vt:lpstr>Docker vs podman</vt:lpstr>
      <vt:lpstr>OrbStack</vt:lpstr>
      <vt:lpstr>Вернемся к докер-композициям</vt:lpstr>
      <vt:lpstr>Первая докер-композиция</vt:lpstr>
      <vt:lpstr>О разрешении адресов (DNS)</vt:lpstr>
      <vt:lpstr>О разрешении адресов (DNS)</vt:lpstr>
      <vt:lpstr>Типы докерных сетей</vt:lpstr>
      <vt:lpstr>Управление окружением и секретами</vt:lpstr>
      <vt:lpstr>Полезные аспекты, о которых многие забывают</vt:lpstr>
      <vt:lpstr>Немного безопасности</vt:lpstr>
      <vt:lpstr>Безопасность и сертификаты - RSA</vt:lpstr>
      <vt:lpstr>Безопасность и сертификаты - шифрование</vt:lpstr>
      <vt:lpstr>Безопасность и сертификаты - подпись</vt:lpstr>
      <vt:lpstr>Безопасность и сертификаты - сертификат</vt:lpstr>
      <vt:lpstr>Безопасность и сертификаты – проверка сертификата веб-сайта</vt:lpstr>
      <vt:lpstr>Первая докер-композиция</vt:lpstr>
      <vt:lpstr>Разворачиваем LMS</vt:lpstr>
      <vt:lpstr>Прикрываем доменом приложение</vt:lpstr>
      <vt:lpstr>Создаем центр сертификации</vt:lpstr>
      <vt:lpstr>А теперь проделайте это сами!</vt:lpstr>
      <vt:lpstr>Поднимаем Keycloak – домашнее задание</vt:lpstr>
      <vt:lpstr>План на следующее занятие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Goodbird Goodbird</cp:lastModifiedBy>
  <cp:revision>1207</cp:revision>
  <cp:lastPrinted>2021-11-11T13:08:42Z</cp:lastPrinted>
  <dcterms:created xsi:type="dcterms:W3CDTF">2021-11-11T08:52:47Z</dcterms:created>
  <dcterms:modified xsi:type="dcterms:W3CDTF">2026-09-17T12:39:52Z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0x010100E8F20F2384D3D04CA8B8E1E250982FD1</vt:lpwstr>
  </property>
</Properties>
</file>